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4"/>
  </p:notesMasterIdLst>
  <p:handoutMasterIdLst>
    <p:handoutMasterId r:id="rId15"/>
  </p:handoutMasterIdLst>
  <p:sldIdLst>
    <p:sldId id="1497" r:id="rId5"/>
    <p:sldId id="1514" r:id="rId6"/>
    <p:sldId id="1499" r:id="rId7"/>
    <p:sldId id="1515" r:id="rId8"/>
    <p:sldId id="1516" r:id="rId9"/>
    <p:sldId id="1502" r:id="rId10"/>
    <p:sldId id="1519" r:id="rId11"/>
    <p:sldId id="1518" r:id="rId12"/>
    <p:sldId id="1512" r:id="rId13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BB022-D9BE-4FB4-8CE9-169A48276EB0}" v="3" dt="2026-05-12T00:59:36.90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79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283" cy="498294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4" y="1"/>
            <a:ext cx="2944283" cy="498294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5D1EC30-5B0B-48D0-A1A8-66A96720DF24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3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4" y="9433107"/>
            <a:ext cx="2944283" cy="498293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283" cy="498294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4" y="1"/>
            <a:ext cx="2944283" cy="498294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9F68A4D-42A7-45F7-9930-00E8DCB48D7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3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4" y="9433107"/>
            <a:ext cx="2944283" cy="498293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083" y="2146049"/>
            <a:ext cx="10689917" cy="2565902"/>
          </a:xfrm>
        </p:spPr>
        <p:txBody>
          <a:bodyPr>
            <a:noAutofit/>
          </a:bodyPr>
          <a:lstStyle/>
          <a:p>
            <a:r>
              <a:rPr lang="en-US" sz="4400" dirty="0"/>
              <a:t>Stepping Up Beyond Your Role: </a:t>
            </a:r>
            <a:br>
              <a:rPr lang="en-US" sz="4400" dirty="0"/>
            </a:br>
            <a:r>
              <a:rPr lang="en-US" sz="4400" dirty="0"/>
              <a:t>Building a Culture of Support and Ownership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rmAutofit/>
          </a:bodyPr>
          <a:lstStyle/>
          <a:p>
            <a:r>
              <a:rPr lang="en-US" dirty="0"/>
              <a:t>Presented by </a:t>
            </a:r>
            <a:r>
              <a:rPr lang="en-US" dirty="0" err="1"/>
              <a:t>Jyothish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646290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Let’s discuss</a:t>
            </a:r>
          </a:p>
          <a:p>
            <a:r>
              <a:rPr lang="en-US" dirty="0"/>
              <a:t>Would you step up, even if it’s not your responsibility</a:t>
            </a:r>
          </a:p>
          <a:p>
            <a:r>
              <a:rPr lang="en-US" dirty="0"/>
              <a:t>Why this topic matters ?</a:t>
            </a:r>
          </a:p>
          <a:p>
            <a:r>
              <a:rPr lang="en-US" dirty="0"/>
              <a:t>Ownership in the training phase</a:t>
            </a:r>
          </a:p>
          <a:p>
            <a:r>
              <a:rPr lang="en-US" dirty="0"/>
              <a:t>What gets in the way ?</a:t>
            </a:r>
          </a:p>
          <a:p>
            <a:r>
              <a:rPr lang="en-US" dirty="0"/>
              <a:t>Culture of ownership and it’s impact on team outcomes</a:t>
            </a:r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422" y="333756"/>
            <a:ext cx="6086539" cy="619048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9C3E0CA-F3BB-07F6-E3D2-DA3112DE10D6}"/>
              </a:ext>
            </a:extLst>
          </p:cNvPr>
          <p:cNvSpPr txBox="1">
            <a:spLocks/>
          </p:cNvSpPr>
          <p:nvPr/>
        </p:nvSpPr>
        <p:spPr>
          <a:xfrm>
            <a:off x="2031389" y="1553592"/>
            <a:ext cx="1537435" cy="9499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/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504" y="1133892"/>
            <a:ext cx="8760995" cy="2177800"/>
          </a:xfrm>
        </p:spPr>
        <p:txBody>
          <a:bodyPr anchor="b"/>
          <a:lstStyle/>
          <a:p>
            <a:r>
              <a:rPr lang="en-US" sz="5400" dirty="0"/>
              <a:t>Would you step up, </a:t>
            </a:r>
            <a:br>
              <a:rPr lang="en-US" sz="5400" dirty="0"/>
            </a:br>
            <a:r>
              <a:rPr lang="en-US" sz="5400" dirty="0"/>
              <a:t>even if it’s not your responsibility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84772-8B78-0611-0233-E96FCA13A99A}"/>
              </a:ext>
            </a:extLst>
          </p:cNvPr>
          <p:cNvSpPr txBox="1"/>
          <p:nvPr/>
        </p:nvSpPr>
        <p:spPr>
          <a:xfrm>
            <a:off x="3514725" y="4219575"/>
            <a:ext cx="516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cap="all" spc="50" dirty="0">
                <a:solidFill>
                  <a:prstClr val="black"/>
                </a:solidFill>
                <a:latin typeface="Lora"/>
                <a:ea typeface="+mj-ea"/>
                <a:cs typeface="+mj-cs"/>
              </a:rPr>
              <a:t>Collaboration is the key 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3" y="2887580"/>
            <a:ext cx="7525512" cy="1933310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1. Beyond Job Description.</a:t>
            </a:r>
            <a:br>
              <a:rPr lang="en-US" sz="2800" dirty="0"/>
            </a:br>
            <a:r>
              <a:rPr lang="en-US" sz="2800" dirty="0"/>
              <a:t>2.Ownership-Driven Teams</a:t>
            </a:r>
            <a:br>
              <a:rPr lang="en-US" sz="2800" dirty="0"/>
            </a:br>
            <a:r>
              <a:rPr lang="en-US" sz="2800" dirty="0"/>
              <a:t>3. Long- term Organizational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06" y="502920"/>
            <a:ext cx="10663187" cy="1534191"/>
          </a:xfrm>
        </p:spPr>
        <p:txBody>
          <a:bodyPr>
            <a:normAutofit/>
          </a:bodyPr>
          <a:lstStyle/>
          <a:p>
            <a:r>
              <a:rPr lang="en-US" sz="9600" dirty="0"/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37430" y="609396"/>
            <a:ext cx="8241812" cy="1299616"/>
          </a:xfrm>
        </p:spPr>
        <p:txBody>
          <a:bodyPr/>
          <a:lstStyle/>
          <a:p>
            <a:r>
              <a:rPr lang="en-US" sz="5400" dirty="0"/>
              <a:t>Ownership in training phase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D0EF9-6217-5B5A-2DC0-247835B68399}"/>
              </a:ext>
            </a:extLst>
          </p:cNvPr>
          <p:cNvSpPr txBox="1"/>
          <p:nvPr/>
        </p:nvSpPr>
        <p:spPr>
          <a:xfrm>
            <a:off x="3737811" y="2555284"/>
            <a:ext cx="6096000" cy="430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Poppins Light"/>
              </a:rPr>
              <a:t>Learning Together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Supporting Peers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Poppins Light"/>
              </a:rPr>
              <a:t>Taking Initiative beyond Taks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 Ligh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Poppins Ligh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 Ligh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561" y="0"/>
            <a:ext cx="11238877" cy="2509736"/>
          </a:xfrm>
        </p:spPr>
        <p:txBody>
          <a:bodyPr/>
          <a:lstStyle/>
          <a:p>
            <a:r>
              <a:rPr lang="en-US" dirty="0"/>
              <a:t>What gets in the way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091BDB-1D3B-9B27-EAAA-BD79C137B2C1}"/>
              </a:ext>
            </a:extLst>
          </p:cNvPr>
          <p:cNvSpPr txBox="1"/>
          <p:nvPr/>
        </p:nvSpPr>
        <p:spPr>
          <a:xfrm>
            <a:off x="2406649" y="3531140"/>
            <a:ext cx="73787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Fear of failure or blame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Micromanagement and low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Lack of Clarity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Cultural inertia 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F63DC-3FCB-425B-52FE-D48B8F62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91E2-1CFB-C607-6BC9-BE19C587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2" y="2887580"/>
            <a:ext cx="8623515" cy="2245894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dirty="0"/>
              <a:t>1. Encouraging teamwork and Collaboration</a:t>
            </a:r>
            <a:br>
              <a:rPr lang="en-US" sz="2800" dirty="0"/>
            </a:br>
            <a:r>
              <a:rPr lang="en-US" sz="2800" dirty="0"/>
              <a:t>2. Foster an environment of trust</a:t>
            </a:r>
            <a:br>
              <a:rPr lang="en-US" sz="2800" dirty="0"/>
            </a:br>
            <a:r>
              <a:rPr lang="en-US" sz="2800" dirty="0"/>
              <a:t>3. Drives innovation through diverse perspectives</a:t>
            </a:r>
            <a:br>
              <a:rPr lang="en-US" sz="2800" dirty="0"/>
            </a:br>
            <a:r>
              <a:rPr lang="en-US" sz="2800" dirty="0"/>
              <a:t>4. Leads to better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83FBC-2AB7-A44E-63E3-9AA1E464C6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06" y="502920"/>
            <a:ext cx="10663187" cy="1534191"/>
          </a:xfrm>
        </p:spPr>
        <p:txBody>
          <a:bodyPr>
            <a:normAutofit fontScale="47500" lnSpcReduction="20000"/>
          </a:bodyPr>
          <a:lstStyle/>
          <a:p>
            <a:r>
              <a:rPr lang="en-US" sz="9600" dirty="0"/>
              <a:t>Culture of ownership and it’s impact on team outcomes(Summary)</a:t>
            </a:r>
          </a:p>
        </p:txBody>
      </p:sp>
    </p:spTree>
    <p:extLst>
      <p:ext uri="{BB962C8B-B14F-4D97-AF65-F5344CB8AC3E}">
        <p14:creationId xmlns:p14="http://schemas.microsoft.com/office/powerpoint/2010/main" val="126964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7C75-23C9-17A3-16B6-ECD423E5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322" y="5137616"/>
            <a:ext cx="8054173" cy="466344"/>
          </a:xfrm>
        </p:spPr>
        <p:txBody>
          <a:bodyPr>
            <a:normAutofit/>
          </a:bodyPr>
          <a:lstStyle/>
          <a:p>
            <a:r>
              <a:rPr lang="en-US" dirty="0"/>
              <a:t>Albert Einstein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B8CF-9E22-6779-27CB-25347B9558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3371" y="1188720"/>
            <a:ext cx="8593017" cy="2174966"/>
          </a:xfrm>
        </p:spPr>
        <p:txBody>
          <a:bodyPr>
            <a:noAutofit/>
          </a:bodyPr>
          <a:lstStyle/>
          <a:p>
            <a:r>
              <a:rPr lang="en-US" dirty="0"/>
              <a:t>“Strive not to be a success, but rather to be of value.”</a:t>
            </a:r>
          </a:p>
        </p:txBody>
      </p:sp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4472" y="0"/>
            <a:ext cx="4222117" cy="3697488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pic>
        <p:nvPicPr>
          <p:cNvPr id="18" name="Picture Placeholder 17" descr="White objects on a white surface">
            <a:extLst>
              <a:ext uri="{FF2B5EF4-FFF2-40B4-BE49-F238E27FC236}">
                <a16:creationId xmlns:a16="http://schemas.microsoft.com/office/drawing/2014/main" id="{2DF43209-08B5-4410-CE46-63D3FC4201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140" y="333756"/>
            <a:ext cx="6226810" cy="6190488"/>
          </a:xfr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09DA4F76-5D77-1C10-C364-56CD0DC3F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http://schemas.microsoft.com/office/2006/documentManagement/types"/>
    <ds:schemaRef ds:uri="http://schemas.microsoft.com/sharepoint/v3"/>
    <ds:schemaRef ds:uri="http://purl.org/dc/terms/"/>
    <ds:schemaRef ds:uri="71af3243-3dd4-4a8d-8c0d-dd76da1f02a5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230e9df3-be65-4c73-a93b-d1236ebd677e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{983C0CFD-1221-46F6-8F33-2292588093DB}f4c2fa09-5552-4190-875c-1979579583e2-TFc553d604-a3b6-4c52-b2ed-3a769335c0fd_win32</Template>
  <TotalTime>2836</TotalTime>
  <Words>191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Lora</vt:lpstr>
      <vt:lpstr>Playfair Display Black</vt:lpstr>
      <vt:lpstr>Poppins Light</vt:lpstr>
      <vt:lpstr>Gradient Circle</vt:lpstr>
      <vt:lpstr>Stepping Up Beyond Your Role:  Building a Culture of Support and Ownership</vt:lpstr>
      <vt:lpstr>Welcome</vt:lpstr>
      <vt:lpstr>Would you step up,  even if it’s not your responsibility ?</vt:lpstr>
      <vt:lpstr>1. Beyond Job Description. 2.Ownership-Driven Teams 3. Long- term Organizational Success</vt:lpstr>
      <vt:lpstr>Quote</vt:lpstr>
      <vt:lpstr>What gets in the way ?</vt:lpstr>
      <vt:lpstr>1. Encouraging teamwork and Collaboration 2. Foster an environment of trust 3. Drives innovation through diverse perspectives 4. Leads to better decision making</vt:lpstr>
      <vt:lpstr>Albert Einstein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-, JYOTHISH</dc:creator>
  <cp:lastModifiedBy>-, JYOTHISH</cp:lastModifiedBy>
  <cp:revision>2</cp:revision>
  <dcterms:created xsi:type="dcterms:W3CDTF">2026-03-28T04:30:55Z</dcterms:created>
  <dcterms:modified xsi:type="dcterms:W3CDTF">2026-05-12T01:00:03Z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